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b7d3992a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b7d3992a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b7d3992a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91440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0" y="192024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0" y="292608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0" y="393192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0" y="493776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0" y="594360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solidFill>
            <a:srgbClr val="1B222D"/>
          </a:solidFill>
          <a:ln cap="flat" cmpd="sng" w="15875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548640" y="23134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&gt;_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188720" y="2148840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urier New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PROJECT JANUS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188720" y="29260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Hands-on web security: break it like red team, fix it like blue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1188720" y="5989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PART 4 — THE ANSWER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WELCOME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Why we built this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48640" y="150876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Security clicks when you've broken something with your own hands. Every site in this project has one real vulnerability, on purpose — find it, exploit it, then learn exactly how to close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60604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68680" y="2926080"/>
            <a:ext cx="548640" cy="54864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868680" y="29077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560"/>
              <a:buFont typeface="Courier New"/>
              <a:buNone/>
            </a:pPr>
            <a:r>
              <a:rPr b="1" i="0" lang="en-US" sz="156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868680" y="365760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Red team side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868680" y="411480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Think like an attacker. Read the code, spot the flaw, exploit it to capture the flag.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297680" y="260604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617720" y="2926080"/>
            <a:ext cx="548640" cy="54864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4617720" y="29077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560"/>
              <a:buFont typeface="Courier New"/>
              <a:buNone/>
            </a:pPr>
            <a:r>
              <a:rPr b="1" i="0" lang="en-US" sz="156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4617720" y="365760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Blue team side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617720" y="411480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Then flip sides. Learn the industry-standard fix and why the vulnerable version fails.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046720" y="260604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366760" y="2926080"/>
            <a:ext cx="548640" cy="54864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8A93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8366760" y="29077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560"/>
              <a:buFont typeface="Courier New"/>
              <a:buNone/>
            </a:pPr>
            <a:r>
              <a:rPr b="1" i="0" lang="en-US" sz="156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8366760" y="3657600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your resume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8366760" y="4114800"/>
            <a:ext cx="2788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Walk away with a concrete, explainable story: here's the flaw, here's the exploit, here's the fix.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548640" y="457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WELCOME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48640" y="77724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How to download and run this Project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48640" y="1783080"/>
            <a:ext cx="2606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5"/>
          <p:cNvCxnSpPr/>
          <p:nvPr/>
        </p:nvCxnSpPr>
        <p:spPr>
          <a:xfrm>
            <a:off x="548640" y="2404872"/>
            <a:ext cx="233160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5"/>
          <p:cNvSpPr txBox="1"/>
          <p:nvPr/>
        </p:nvSpPr>
        <p:spPr>
          <a:xfrm>
            <a:off x="548640" y="2532888"/>
            <a:ext cx="26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download the files from 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48640" y="2953512"/>
            <a:ext cx="251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Use it like a normal user first. Look at the login form, the page source, network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3108960" y="1691640"/>
            <a:ext cx="32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3383280" y="1783080"/>
            <a:ext cx="2606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5"/>
          <p:cNvCxnSpPr/>
          <p:nvPr/>
        </p:nvCxnSpPr>
        <p:spPr>
          <a:xfrm>
            <a:off x="3383280" y="2404872"/>
            <a:ext cx="233160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5"/>
          <p:cNvSpPr txBox="1"/>
          <p:nvPr/>
        </p:nvSpPr>
        <p:spPr>
          <a:xfrm>
            <a:off x="3383280" y="2532888"/>
            <a:ext cx="26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open website 1 folder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3383280" y="2953512"/>
            <a:ext cx="251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One vulnerability per site, always exploitable through the front door — no guessing games.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5943600" y="1691640"/>
            <a:ext cx="32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217920" y="1783080"/>
            <a:ext cx="2606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6217920" y="2404872"/>
            <a:ext cx="233160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5"/>
          <p:cNvSpPr txBox="1"/>
          <p:nvPr/>
        </p:nvSpPr>
        <p:spPr>
          <a:xfrm>
            <a:off x="6217920" y="2532888"/>
            <a:ext cx="26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open website 2 folder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217920" y="2953512"/>
            <a:ext cx="251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make sure to have docker downloaded on your computer and find where the folder is and use the command cd filename </a:t>
            </a:r>
            <a:endParaRPr sz="1100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then run the command </a:t>
            </a:r>
            <a:endParaRPr sz="1100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docker compose up --build </a:t>
            </a:r>
            <a:endParaRPr sz="1100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then go to http://localhost:8080/ </a:t>
            </a:r>
            <a:endParaRPr sz="1100">
              <a:solidFill>
                <a:srgbClr val="8A93A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778240" y="1691640"/>
            <a:ext cx="32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9052560" y="1783080"/>
            <a:ext cx="2606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5"/>
          <p:cNvCxnSpPr/>
          <p:nvPr/>
        </p:nvCxnSpPr>
        <p:spPr>
          <a:xfrm>
            <a:off x="9052560" y="2404872"/>
            <a:ext cx="233160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5"/>
          <p:cNvSpPr txBox="1"/>
          <p:nvPr/>
        </p:nvSpPr>
        <p:spPr>
          <a:xfrm>
            <a:off x="9052560" y="2532888"/>
            <a:ext cx="260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find the hidden flag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9052560" y="2953512"/>
            <a:ext cx="251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475720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HOW THIS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loop, every time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548640" y="17830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6"/>
          <p:cNvCxnSpPr/>
          <p:nvPr/>
        </p:nvCxnSpPr>
        <p:spPr>
          <a:xfrm>
            <a:off x="548640" y="2404872"/>
            <a:ext cx="233172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6"/>
          <p:cNvSpPr txBox="1"/>
          <p:nvPr/>
        </p:nvSpPr>
        <p:spPr>
          <a:xfrm>
            <a:off x="548640" y="253288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Explore the site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548640" y="2953512"/>
            <a:ext cx="2514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Use it like a normal user first. Look at the login form, the page source, network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3108960" y="16916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3383280" y="17830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6"/>
          <p:cNvCxnSpPr/>
          <p:nvPr/>
        </p:nvCxnSpPr>
        <p:spPr>
          <a:xfrm>
            <a:off x="3383280" y="2404872"/>
            <a:ext cx="233172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 txBox="1"/>
          <p:nvPr/>
        </p:nvSpPr>
        <p:spPr>
          <a:xfrm>
            <a:off x="3383280" y="253288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Find the flaw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3383280" y="2953512"/>
            <a:ext cx="2514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One vulnerability per site, always exploitable through the front door — no guessing games.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5943600" y="16916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6217920" y="17830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6"/>
          <p:cNvCxnSpPr/>
          <p:nvPr/>
        </p:nvCxnSpPr>
        <p:spPr>
          <a:xfrm>
            <a:off x="6217920" y="2404872"/>
            <a:ext cx="233172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6"/>
          <p:cNvSpPr txBox="1"/>
          <p:nvPr/>
        </p:nvSpPr>
        <p:spPr>
          <a:xfrm>
            <a:off x="6217920" y="253288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Capture the flag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6217920" y="2953512"/>
            <a:ext cx="2514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A working exploit reveals a flag — proof you actually found and used the weakness.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8778240" y="16916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241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2A3241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9052560" y="1783080"/>
            <a:ext cx="2606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B38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232B38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9052560" y="2404872"/>
            <a:ext cx="2331720" cy="0"/>
          </a:xfrm>
          <a:prstGeom prst="straightConnector1">
            <a:avLst/>
          </a:prstGeom>
          <a:noFill/>
          <a:ln cap="flat" cmpd="sng" w="254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 txBox="1"/>
          <p:nvPr/>
        </p:nvSpPr>
        <p:spPr>
          <a:xfrm>
            <a:off x="9052560" y="253288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Learn the fix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9052560" y="2953512"/>
            <a:ext cx="2514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Come back to this deck. See the vulnerable code side-by-side with the secure version.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BEFORE YOU 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Rules of engagement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The skills here are dual-use. The line between “security researcher” and “criminal” is entirely about permission and scope. So: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092"/>
              <a:buFont typeface="Courier New"/>
              <a:buNone/>
            </a:pPr>
            <a:r>
              <a:rPr b="1" i="0" lang="en-US" sz="1092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1097280" y="229514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Only attack systems built for this exercise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097280" y="267919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These demo sites are intentionally vulnerable and yours to break.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55080" y="2331720"/>
            <a:ext cx="384048" cy="384048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6355080" y="2313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092"/>
              <a:buFont typeface="Courier New"/>
              <a:buNone/>
            </a:pPr>
            <a:r>
              <a:rPr b="1" i="0" lang="en-US" sz="1092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903720" y="229514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Never point these techniques at real, live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6903720" y="267919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Not your school portal, not a company site, not “just to check.” That's a crime, not a lab.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548640" y="3639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092"/>
              <a:buFont typeface="Courier New"/>
              <a:buNone/>
            </a:pPr>
            <a:r>
              <a:rPr b="1" i="0" lang="en-US" sz="1092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097280" y="362102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Every flaw here maps to a real CVE-class issue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097280" y="400507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Plaintext storage, SQL injection, and unsalted hashing all appear regularly in real breach reports.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355080" y="3657600"/>
            <a:ext cx="384048" cy="384048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6355080" y="363931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092"/>
              <a:buFont typeface="Courier New"/>
              <a:buNone/>
            </a:pPr>
            <a:r>
              <a:rPr b="1" i="0" lang="en-US" sz="1092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i="0" sz="109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6903720" y="362102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you ever find a real flaw by accident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6903720" y="4005072"/>
            <a:ext cx="4709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Stop, don't exploit further, and report it responsibly to the site owner — that's the actual blue/red team norm.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0E1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two sites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1691640"/>
            <a:ext cx="5257800" cy="4297680"/>
          </a:xfrm>
          <a:prstGeom prst="roundRect">
            <a:avLst>
              <a:gd fmla="val 1702" name="adj"/>
            </a:avLst>
          </a:prstGeom>
          <a:solidFill>
            <a:srgbClr val="131820"/>
          </a:solidFill>
          <a:ln cap="flat" cmpd="sng" w="15875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914400" y="20116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WEBSITE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914400" y="2377440"/>
            <a:ext cx="4526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Plain-text passwords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914400" y="3200400"/>
            <a:ext cx="4526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 password is compared directly against a hardcoded value in client-side JavaScript — no hashing at 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14400" y="4937760"/>
            <a:ext cx="4526280" cy="685800"/>
          </a:xfrm>
          <a:prstGeom prst="roundRect">
            <a:avLst>
              <a:gd fmla="val 20000" name="adj"/>
            </a:avLst>
          </a:prstGeom>
          <a:solidFill>
            <a:srgbClr val="1B222D"/>
          </a:solidFill>
          <a:ln cap="flat" cmpd="sng" w="9525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/>
        </p:nvSpPr>
        <p:spPr>
          <a:xfrm>
            <a:off x="1051560" y="493776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cryptX{b@s1c_webs1te_h@ck1ng}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355080" y="1691640"/>
            <a:ext cx="5257800" cy="4297680"/>
          </a:xfrm>
          <a:prstGeom prst="roundRect">
            <a:avLst>
              <a:gd fmla="val 1702" name="adj"/>
            </a:avLst>
          </a:prstGeom>
          <a:solidFill>
            <a:srgbClr val="131820"/>
          </a:solidFill>
          <a:ln cap="flat" cmpd="sng" w="15875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6720840" y="2011680"/>
            <a:ext cx="4526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WEBSITE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6720840" y="2377440"/>
            <a:ext cx="4526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SQL injection → unsalted hash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6720840" y="3200400"/>
            <a:ext cx="4526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Unsanitized login input lets you manipulate the query. Dump the password hash, then crack it — there's no salt to slow you down.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720840" y="4937760"/>
            <a:ext cx="4526280" cy="685800"/>
          </a:xfrm>
          <a:prstGeom prst="roundRect">
            <a:avLst>
              <a:gd fmla="val 20000" name="adj"/>
            </a:avLst>
          </a:prstGeom>
          <a:solidFill>
            <a:srgbClr val="1B222D"/>
          </a:solidFill>
          <a:ln cap="flat" cmpd="sng" w="9525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6858000" y="4937760"/>
            <a:ext cx="4251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cryptX{sq1_dump_th3n_cr@ck}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548640" y="192024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D"/>
              </a:buClr>
              <a:buSzPts val="9000"/>
              <a:buFont typeface="Courier New"/>
              <a:buNone/>
            </a:pPr>
            <a:r>
              <a:rPr b="1" i="0" lang="en-US" sz="9000" u="none" cap="none" strike="noStrike">
                <a:solidFill>
                  <a:srgbClr val="1B222D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943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WEBSITE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urier New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Plain-Text Passwords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WEBSITE 1 · THE VULNERABILITY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What's actually happening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548640" y="1463040"/>
            <a:ext cx="5303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Open the page source. The correct password isn't hashed, salted, or checked on a server — it's sitting right there in the JavaScript, and the comparison happens entirely in the browser.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548640" y="29992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780"/>
              <a:buFont typeface="Courier New"/>
              <a:buNone/>
            </a:pPr>
            <a:r>
              <a:rPr b="1" i="0" lang="en-US" sz="78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960120" y="296265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View source or DevTools reveals the credential outright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48640" y="3639312"/>
            <a:ext cx="274320" cy="27432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548640" y="36210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780"/>
              <a:buFont typeface="Courier New"/>
              <a:buNone/>
            </a:pPr>
            <a:r>
              <a:rPr b="1" i="0" lang="en-US" sz="78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960120" y="358444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Client-side checks can always be read, copied, or bypassed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8640" y="4261104"/>
            <a:ext cx="274320" cy="274320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548640" y="42428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780"/>
              <a:buFont typeface="Courier New"/>
              <a:buNone/>
            </a:pPr>
            <a:r>
              <a:rPr b="1" i="0" lang="en-US" sz="78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960120" y="42062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No hashing means a leaked file = a leaked password, instantly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fmla="val 1364" name="adj"/>
            </a:avLst>
          </a:prstGeom>
          <a:solidFill>
            <a:srgbClr val="0D1117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400800" y="1664208"/>
            <a:ext cx="128016" cy="128016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611112" y="1664208"/>
            <a:ext cx="128016" cy="128016"/>
          </a:xfrm>
          <a:prstGeom prst="ellipse">
            <a:avLst/>
          </a:prstGeom>
          <a:solidFill>
            <a:srgbClr val="E5C2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821424" y="1664208"/>
            <a:ext cx="128016" cy="128016"/>
          </a:xfrm>
          <a:prstGeom prst="ellipse">
            <a:avLst/>
          </a:prstGeom>
          <a:solidFill>
            <a:srgbClr val="3FB2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6172200" y="1600200"/>
            <a:ext cx="5166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website1pt1.html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6446520" y="2057400"/>
            <a:ext cx="48920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const CORRECT_USER = "user1";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const CORRECT_PASS =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"wVwTnTArfutHwjVxRPl...";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function tryLogin()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const u = username.value.trim();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const p = password.value;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if (u === CORRECT_USER &amp;&amp;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    p === CORRECT_PASS)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  // ← plaintext compare,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  //   entirely client-side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  location.href = "success.html";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WEBSITE 1 · THE STAKES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Why this matters beyond one login page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1737360"/>
            <a:ext cx="3429000" cy="3566160"/>
          </a:xfrm>
          <a:prstGeom prst="roundRect">
            <a:avLst>
              <a:gd fmla="val 2133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822960" y="201168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400"/>
              <a:buFont typeface="Courier New"/>
              <a:buNone/>
            </a:pPr>
            <a:r>
              <a:rPr b="1" i="0" lang="en-US" sz="44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822960" y="27889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DUMP AWAY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822960" y="34290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Any breach, backup leak, or misconfigured server exposes every password in the clear — not a hash to crack, the actual password.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297680" y="1737360"/>
            <a:ext cx="3429000" cy="3566160"/>
          </a:xfrm>
          <a:prstGeom prst="roundRect">
            <a:avLst>
              <a:gd fmla="val 2133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 txBox="1"/>
          <p:nvPr/>
        </p:nvSpPr>
        <p:spPr>
          <a:xfrm>
            <a:off x="4572000" y="201168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400"/>
              <a:buFont typeface="Courier New"/>
              <a:buNone/>
            </a:pPr>
            <a:r>
              <a:rPr b="1" i="0" lang="en-US" sz="44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65%+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4572000" y="27889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OF PEOPLE REUSE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PASSWORDS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4572000" y="34290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A plaintext leak on one small site often unlocks a user's email, banking, and work accounts too.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046720" y="1737360"/>
            <a:ext cx="3429000" cy="3566160"/>
          </a:xfrm>
          <a:prstGeom prst="roundRect">
            <a:avLst>
              <a:gd fmla="val 2133" name="adj"/>
            </a:avLst>
          </a:prstGeom>
          <a:solidFill>
            <a:srgbClr val="131820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8321040" y="201168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4400"/>
              <a:buFont typeface="Courier New"/>
              <a:buNone/>
            </a:pPr>
            <a:r>
              <a:rPr b="1" i="0" lang="en-US" sz="44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8321040" y="278892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EXTRA EFFORT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ATTACKERS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321040" y="3429000"/>
            <a:ext cx="2880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No cracking, no brute force, no GPU rig required. Read the file, get the password.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Teaching note: this is why compliance frameworks (PCI-DSS, SOC 2, GDPR) treat plaintext password storage as an automatic finding — no exceptions.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WEBSITE 1 · THE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How this should be built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48640" y="1600200"/>
            <a:ext cx="5257800" cy="4160520"/>
          </a:xfrm>
          <a:prstGeom prst="roundRect">
            <a:avLst>
              <a:gd fmla="val 1319" name="adj"/>
            </a:avLst>
          </a:prstGeom>
          <a:solidFill>
            <a:srgbClr val="1A1013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822960" y="182880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VULNERABLE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822960" y="2240280"/>
            <a:ext cx="4709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if (u === CORRECT_USER &amp;&amp;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  p === CORRECT_PASS)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// compared in the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// browser, in plaintext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loginSuccess();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822960" y="3931920"/>
            <a:ext cx="4709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Runs client-side — trivially bypassed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No hashing — a leak is instant compromise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No server ever validates the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fmla="val 1319" name="adj"/>
            </a:avLst>
          </a:prstGeom>
          <a:solidFill>
            <a:srgbClr val="0F1A15"/>
          </a:solidFill>
          <a:ln cap="flat" cmpd="sng" w="127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6629400" y="2240280"/>
            <a:ext cx="4709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// server-side route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const user = await db.find(u);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const ok = await bcrypt.compare(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  p, user.passwordHash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if (ok) issueSessionToken();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6629400" y="3931920"/>
            <a:ext cx="4709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Validation happens on the server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Password is salted + hashed with bcrypt/argon2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• A stolen DB row is useless without cracking the hash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566928" y="192024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22D"/>
              </a:buClr>
              <a:buSzPts val="9000"/>
              <a:buFont typeface="Courier New"/>
              <a:buNone/>
            </a:pPr>
            <a:r>
              <a:rPr b="1" i="0" lang="en-US" sz="9000" u="none" cap="none" strike="noStrike">
                <a:solidFill>
                  <a:srgbClr val="1B222D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5943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WEBSITE </a:t>
            </a:r>
            <a:r>
              <a:rPr lang="en-US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548640" y="3749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SQL Injection → Unsalted Hash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 txBox="1"/>
          <p:nvPr/>
        </p:nvSpPr>
        <p:spPr>
          <a:xfrm>
            <a:off x="548640" y="46177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Two vulnerabilities chained into one attack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WEBSITE </a:t>
            </a:r>
            <a:r>
              <a:rPr lang="en-US" sz="1200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2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· PART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injection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The login form drops your input straight into a SQL query string. If input isn't sanitized, you're not filling in a form — you're editing the query itself.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THE QUERY THE SERVER BUILDS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fmla="val 6316" name="adj"/>
            </a:avLst>
          </a:prstGeom>
          <a:solidFill>
            <a:srgbClr val="0D1117"/>
          </a:solidFill>
          <a:ln cap="flat" cmpd="sng" w="12700">
            <a:solidFill>
              <a:srgbClr val="2A32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822960" y="256032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C9D1D9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users WHERE username = '</a:t>
            </a:r>
            <a:r>
              <a:rPr b="1" i="0" lang="en-US" sz="150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admin' --</a:t>
            </a:r>
            <a:r>
              <a:rPr b="0" i="0" lang="en-US" sz="1500" u="none" cap="none" strike="noStrike">
                <a:solidFill>
                  <a:srgbClr val="555F6E"/>
                </a:solidFill>
                <a:latin typeface="Courier New"/>
                <a:ea typeface="Courier New"/>
                <a:cs typeface="Courier New"/>
                <a:sym typeface="Courier New"/>
              </a:rPr>
              <a:t>' AND password = '...'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548640" y="37033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Type into the username field: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3931920" y="370332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admin' --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548640" y="42062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The trailing -- comments 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3931920" y="420624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 rest of the query — including the password check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548640" y="47091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Result: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3931920" y="47091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logged in as admin, no valid password required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131820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868680" y="544068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But the real prize isn't just logging in — the same flaw lets an attacker pivot from “bypass the check” to “read the whole users table,” hash and all.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WEBSITE </a:t>
            </a:r>
            <a:r>
              <a:rPr lang="en-US" sz="1200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 · FIX, PART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Stop the injection: parameterized queries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Never build SQL by concatenating strings. Let the database driver treat user input as data, never as code.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548640" y="2103120"/>
            <a:ext cx="5257800" cy="3566160"/>
          </a:xfrm>
          <a:prstGeom prst="roundRect">
            <a:avLst>
              <a:gd fmla="val 1538" name="adj"/>
            </a:avLst>
          </a:prstGeom>
          <a:solidFill>
            <a:srgbClr val="1A1013"/>
          </a:solidFill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822960" y="233172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E5484D"/>
                </a:solidFill>
                <a:latin typeface="Courier New"/>
                <a:ea typeface="Courier New"/>
                <a:cs typeface="Courier New"/>
                <a:sym typeface="Courier New"/>
              </a:rPr>
              <a:t>VULNERABLE — string concatenation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822960" y="2788920"/>
            <a:ext cx="4709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const q = "SELECT * FROM users " 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"WHERE username='" + user 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  "' AND password='" + pass + "'";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B3B3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E7B3B3"/>
                </a:solidFill>
                <a:latin typeface="Courier New"/>
                <a:ea typeface="Courier New"/>
                <a:cs typeface="Courier New"/>
                <a:sym typeface="Courier New"/>
              </a:rPr>
              <a:t>db.query(q);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822960" y="443484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User input becomes part of the SQL grammar itself — any quote character breaks out of the intended query.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6355080" y="2103120"/>
            <a:ext cx="5257800" cy="3566160"/>
          </a:xfrm>
          <a:prstGeom prst="roundRect">
            <a:avLst>
              <a:gd fmla="val 1538" name="adj"/>
            </a:avLst>
          </a:prstGeom>
          <a:solidFill>
            <a:srgbClr val="0F1A15"/>
          </a:solidFill>
          <a:ln cap="flat" cmpd="sng" w="1270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6629400" y="233172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FIXED — parameterized query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6629400" y="2788920"/>
            <a:ext cx="4709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db.query(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  "SELECT * FROM users " +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  "WHERE username = ?",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  [user]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E4CC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B7E4C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6629400" y="4434840"/>
            <a:ext cx="4709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The ? placeholder is sent to the database separately from the query structure — input can never rewrite the SQL, no matter what characters it contains.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blue-team checklist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Everything from both sites, distilled into habits worth building now.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548640" y="219456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/>
          <p:cNvSpPr txBox="1"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 txBox="1"/>
          <p:nvPr/>
        </p:nvSpPr>
        <p:spPr>
          <a:xfrm>
            <a:off x="1051560" y="21305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Never store or compare passwords in plaintext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1051560" y="249631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Hash them — always, no exceptions, even for “internal tools.”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6263640" y="219456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6263640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 txBox="1"/>
          <p:nvPr/>
        </p:nvSpPr>
        <p:spPr>
          <a:xfrm>
            <a:off x="6766560" y="21305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Salt every hash, uniquely per user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6766560" y="249631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Defeats rainbow tables even if the hashing algorithm itself is sound.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548640" y="329184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548640" y="32735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 txBox="1"/>
          <p:nvPr/>
        </p:nvSpPr>
        <p:spPr>
          <a:xfrm>
            <a:off x="1051560" y="3227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 bcrypt, scrypt, or Argon2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1051560" y="359359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Never MD5/SHA-1 for passwords — they're built to be fast, which helps attackers, not you.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6263640" y="329184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6263640" y="32735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6766560" y="32278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Parameterize every database query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6766560" y="359359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String concatenation with user input is the root cause of SQL injection, full stop.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548640" y="438912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 txBox="1"/>
          <p:nvPr/>
        </p:nvSpPr>
        <p:spPr>
          <a:xfrm>
            <a:off x="548640" y="43708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1051560" y="432511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Validate on the server, not just the client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1051560" y="469087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Client-side JS can be read, edited, or skipped entirely by anyone with DevTools.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1B222D"/>
          </a:solidFill>
          <a:ln cap="flat" cmpd="sng" w="19050">
            <a:solidFill>
              <a:srgbClr val="3FB2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6263640" y="43708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935"/>
              <a:buFont typeface="Courier New"/>
              <a:buNone/>
            </a:pPr>
            <a:r>
              <a:rPr b="1" i="0" lang="en-US" sz="936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✓</a:t>
            </a:r>
            <a:endParaRPr b="0" i="0" sz="9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6766560" y="432511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Rate-limit and log authentication attempts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6766560" y="469087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Slows brute force and gives you a signal when someone's actually trying.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E14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8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17"/>
          <p:cNvCxnSpPr/>
          <p:nvPr/>
        </p:nvCxnSpPr>
        <p:spPr>
          <a:xfrm>
            <a:off x="0" y="91440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7"/>
          <p:cNvCxnSpPr/>
          <p:nvPr/>
        </p:nvCxnSpPr>
        <p:spPr>
          <a:xfrm>
            <a:off x="0" y="192024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7"/>
          <p:cNvCxnSpPr/>
          <p:nvPr/>
        </p:nvCxnSpPr>
        <p:spPr>
          <a:xfrm>
            <a:off x="0" y="292608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7"/>
          <p:cNvCxnSpPr/>
          <p:nvPr/>
        </p:nvCxnSpPr>
        <p:spPr>
          <a:xfrm>
            <a:off x="0" y="393192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7"/>
          <p:cNvCxnSpPr/>
          <p:nvPr/>
        </p:nvCxnSpPr>
        <p:spPr>
          <a:xfrm>
            <a:off x="0" y="493776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7"/>
          <p:cNvCxnSpPr/>
          <p:nvPr/>
        </p:nvCxnSpPr>
        <p:spPr>
          <a:xfrm>
            <a:off x="0" y="5943600"/>
            <a:ext cx="12188952" cy="0"/>
          </a:xfrm>
          <a:prstGeom prst="straightConnector1">
            <a:avLst/>
          </a:prstGeom>
          <a:noFill/>
          <a:ln cap="flat" cmpd="sng" w="9525">
            <a:solidFill>
              <a:srgbClr val="1B22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7"/>
          <p:cNvSpPr txBox="1"/>
          <p:nvPr/>
        </p:nvSpPr>
        <p:spPr>
          <a:xfrm>
            <a:off x="548640" y="23774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Break it. Understand it. Fix it.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548640" y="32004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93A3"/>
                </a:solidFill>
                <a:latin typeface="Calibri"/>
                <a:ea typeface="Calibri"/>
                <a:cs typeface="Calibri"/>
                <a:sym typeface="Calibri"/>
              </a:rPr>
              <a:t>That loop — not any single tool — is what makes a good security engineer on either side of the fence.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27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FB27F"/>
                </a:solidFill>
                <a:latin typeface="Courier New"/>
                <a:ea typeface="Courier New"/>
                <a:cs typeface="Courier New"/>
                <a:sym typeface="Courier New"/>
              </a:rPr>
              <a:t>KEEP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•  OWASP Top 10  •  OWASP Cheat Sheet Series (Password Storage)  •  PortSwigger Web Security Academy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93A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A93A3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548640" y="576072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E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7EAEE"/>
                </a:solidFill>
                <a:latin typeface="Calibri"/>
                <a:ea typeface="Calibri"/>
                <a:cs typeface="Calibri"/>
                <a:sym typeface="Calibri"/>
              </a:rPr>
              <a:t>If you want one last challenge in one of the websites has two flags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